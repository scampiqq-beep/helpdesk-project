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9" r:id="rId4"/>
    <p:sldId id="26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-37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42BC-5BB9-4F88-B72B-B6FE0A28378C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AF10C-5210-4767-B1B8-D3CB7DDBE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57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4B74D-32F1-497B-BA13-18666FAA457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804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4B74D-32F1-497B-BA13-18666FAA457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53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149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92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54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992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2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22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697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49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64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9781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2" t="26977" r="26772" b="12867"/>
          <a:stretch/>
        </p:blipFill>
        <p:spPr>
          <a:xfrm>
            <a:off x="0" y="-16042"/>
            <a:ext cx="12192000" cy="690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3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2" t="26977" r="26772" b="12867"/>
          <a:stretch/>
        </p:blipFill>
        <p:spPr>
          <a:xfrm>
            <a:off x="0" y="-16042"/>
            <a:ext cx="12192000" cy="690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2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0EEA8-034B-4BFC-86BD-8ED5349BB6E5}" type="datetimeFigureOut">
              <a:rPr lang="ru-RU" smtClean="0"/>
              <a:t>10.02.2021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B2FC3-A353-4B2D-851E-D58AA8E3E5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3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9.png"/><Relationship Id="rId18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image" Target="../media/image15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image" Target="../media/image13.svg"/><Relationship Id="rId19" Type="http://schemas.openxmlformats.org/officeDocument/2006/relationships/image" Target="../media/image12.png"/><Relationship Id="rId4" Type="http://schemas.openxmlformats.org/officeDocument/2006/relationships/image" Target="../media/image7.svg"/><Relationship Id="rId9" Type="http://schemas.openxmlformats.org/officeDocument/2006/relationships/image" Target="../media/image7.png"/><Relationship Id="rId14" Type="http://schemas.openxmlformats.org/officeDocument/2006/relationships/image" Target="../media/image17.svg"/><Relationship Id="rId22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6501350" y="5018690"/>
            <a:ext cx="4498828" cy="107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sz="1600" b="1" dirty="0">
                <a:solidFill>
                  <a:schemeClr val="bg1"/>
                </a:solidFill>
                <a:latin typeface="Arial" charset="0"/>
              </a:rPr>
              <a:t>ПЕРВЫЙ ЗАМЕСТИТЕЛЬ ПРЕМЬЕР-МИНИСТРА ПРАВИТЕЛЬСВА РБ – МИНИСТР ЭКОНОМИЧЕСКОГО РАЗВИТИЯ И ИНВЕСТИЦИОННОЙ ПОЛИТИКИ РБ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880031" y="4063950"/>
            <a:ext cx="5759140" cy="830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sz="2399" b="1" dirty="0">
                <a:solidFill>
                  <a:schemeClr val="bg1"/>
                </a:solidFill>
                <a:latin typeface="Arial" charset="0"/>
              </a:rPr>
              <a:t>МУРАТОВ </a:t>
            </a:r>
          </a:p>
          <a:p>
            <a:pPr algn="ctr" eaLnBrk="1" hangingPunct="1"/>
            <a:r>
              <a:rPr lang="ru-RU" sz="2399" b="1" dirty="0">
                <a:solidFill>
                  <a:schemeClr val="bg1"/>
                </a:solidFill>
                <a:latin typeface="Arial" charset="0"/>
              </a:rPr>
              <a:t>Рустам Хамитович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0" y="164337"/>
            <a:ext cx="12192000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99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ПРАВИТЕЛЬСТВО</a:t>
            </a:r>
          </a:p>
          <a:p>
            <a:pPr algn="ctr"/>
            <a:r>
              <a:rPr lang="ru-RU" sz="1799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РЕСПУБЛИКИ БАШКОРТОСТАН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544" y="1568451"/>
            <a:ext cx="1511774" cy="1666524"/>
          </a:xfrm>
          <a:prstGeom prst="rect">
            <a:avLst/>
          </a:prstGeom>
        </p:spPr>
      </p:pic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60811" y="1652599"/>
            <a:ext cx="10870376" cy="1569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ru-RU" sz="2399" b="1" dirty="0">
                <a:solidFill>
                  <a:schemeClr val="bg1"/>
                </a:solidFill>
                <a:latin typeface="Arial" charset="0"/>
              </a:rPr>
              <a:t>Об организации работы</a:t>
            </a:r>
            <a:br>
              <a:rPr lang="ru-RU" sz="2399" b="1" dirty="0">
                <a:solidFill>
                  <a:schemeClr val="bg1"/>
                </a:solidFill>
                <a:latin typeface="Arial" charset="0"/>
              </a:rPr>
            </a:br>
            <a:r>
              <a:rPr lang="ru-RU" sz="2399" b="1" dirty="0">
                <a:solidFill>
                  <a:schemeClr val="bg1"/>
                </a:solidFill>
                <a:latin typeface="Arial" charset="0"/>
              </a:rPr>
              <a:t>по цифровой трансформации</a:t>
            </a:r>
            <a:br>
              <a:rPr lang="ru-RU" sz="2399" b="1" dirty="0">
                <a:solidFill>
                  <a:schemeClr val="bg1"/>
                </a:solidFill>
                <a:latin typeface="Arial" charset="0"/>
              </a:rPr>
            </a:br>
            <a:r>
              <a:rPr lang="ru-RU" sz="2399" b="1" dirty="0">
                <a:solidFill>
                  <a:schemeClr val="bg1"/>
                </a:solidFill>
                <a:latin typeface="Arial" charset="0"/>
              </a:rPr>
              <a:t>отраслей экономики и социальной сферы</a:t>
            </a:r>
            <a:br>
              <a:rPr lang="ru-RU" sz="2399" b="1" dirty="0">
                <a:solidFill>
                  <a:schemeClr val="bg1"/>
                </a:solidFill>
                <a:latin typeface="Arial" charset="0"/>
              </a:rPr>
            </a:br>
            <a:r>
              <a:rPr lang="ru-RU" sz="2399" b="1" dirty="0">
                <a:solidFill>
                  <a:schemeClr val="bg1"/>
                </a:solidFill>
                <a:latin typeface="Arial" charset="0"/>
              </a:rPr>
              <a:t>в Республике Башкортостан</a:t>
            </a:r>
            <a:endParaRPr lang="en-US" sz="2399" b="1" dirty="0">
              <a:solidFill>
                <a:schemeClr val="bg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06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851" y="261473"/>
            <a:ext cx="12192000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99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ПОКАЗАТЕЛИ ДОСТИЖЕНИЯ ЦЕЛИ «ЦИФРОВАЯ ТРАНСФОРМАЦИЯ»</a:t>
            </a:r>
            <a:endParaRPr lang="ru-RU" sz="1799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E36C648-2078-42FB-B5A9-D788D2CB69B3}"/>
              </a:ext>
            </a:extLst>
          </p:cNvPr>
          <p:cNvSpPr txBox="1"/>
          <p:nvPr/>
        </p:nvSpPr>
        <p:spPr>
          <a:xfrm>
            <a:off x="1869966" y="1340026"/>
            <a:ext cx="8037713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4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достижение «цифровой зрелости» </a:t>
            </a:r>
            <a:r>
              <a:rPr lang="ru-RU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ключевых отраслей </a:t>
            </a:r>
          </a:p>
          <a:p>
            <a:r>
              <a:rPr lang="ru-RU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экономики и социальной сферы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="" xmlns:a16="http://schemas.microsoft.com/office/drawing/2014/main" id="{B12B76F6-F961-4F3F-87B5-031D4EADCFFF}"/>
              </a:ext>
            </a:extLst>
          </p:cNvPr>
          <p:cNvSpPr/>
          <p:nvPr/>
        </p:nvSpPr>
        <p:spPr>
          <a:xfrm>
            <a:off x="1138727" y="1355817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pic>
        <p:nvPicPr>
          <p:cNvPr id="19" name="Рисунок 18" descr="Маркеры-галочки">
            <a:extLst>
              <a:ext uri="{FF2B5EF4-FFF2-40B4-BE49-F238E27FC236}">
                <a16:creationId xmlns="" xmlns:a16="http://schemas.microsoft.com/office/drawing/2014/main" id="{92375BF5-5F1E-444F-8DD4-F2BCC4BD7A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703" y="1445793"/>
            <a:ext cx="359906" cy="35990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485CF47D-19DD-4407-B9B7-57BB552C6C7D}"/>
              </a:ext>
            </a:extLst>
          </p:cNvPr>
          <p:cNvSpPr txBox="1"/>
          <p:nvPr/>
        </p:nvSpPr>
        <p:spPr>
          <a:xfrm>
            <a:off x="1878226" y="4071466"/>
            <a:ext cx="9299918" cy="10464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8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 97% </a:t>
            </a:r>
            <a:r>
              <a:rPr lang="ru-RU" sz="1799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рост доли домохозяйств, которым обеспечена возможность 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широкополосного доступа к информационно-телекоммуникационной </a:t>
            </a:r>
          </a:p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сети «Интернет</a:t>
            </a:r>
            <a:r>
              <a:rPr lang="ru-RU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0DE74DEC-28B6-4B7E-9ED7-AA176B16DBFD}"/>
              </a:ext>
            </a:extLst>
          </p:cNvPr>
          <p:cNvSpPr txBox="1"/>
          <p:nvPr/>
        </p:nvSpPr>
        <p:spPr>
          <a:xfrm>
            <a:off x="1872973" y="5429065"/>
            <a:ext cx="974404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800" b="1" dirty="0" smtClean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4 раза </a:t>
            </a:r>
            <a:r>
              <a:rPr lang="ru-RU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сравнению с показателем 2019 года -  увеличение вложений в отечественные решения в сфере информационных технологий.</a:t>
            </a: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138727" y="2708176"/>
            <a:ext cx="9630869" cy="738664"/>
            <a:chOff x="1141734" y="2993355"/>
            <a:chExt cx="9630869" cy="73866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0DE74DEC-28B6-4B7E-9ED7-AA176B16DBFD}"/>
                </a:ext>
              </a:extLst>
            </p:cNvPr>
            <p:cNvSpPr txBox="1"/>
            <p:nvPr/>
          </p:nvSpPr>
          <p:spPr>
            <a:xfrm>
              <a:off x="1942365" y="2993355"/>
              <a:ext cx="8830238" cy="7386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2800" b="1" dirty="0" smtClean="0">
                  <a:solidFill>
                    <a:srgbClr val="FFF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до 95% </a:t>
              </a:r>
              <a:r>
                <a:rPr lang="ru-RU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 </a:t>
              </a:r>
              <a:r>
                <a:rPr lang="ru-RU" sz="20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увеличение доли массовых социально значимых услуг, </a:t>
              </a:r>
            </a:p>
            <a:p>
              <a:r>
                <a:rPr lang="ru-RU" sz="2000" b="1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доступных в электронном виде </a:t>
              </a:r>
              <a:endPara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Овал 22">
              <a:extLst>
                <a:ext uri="{FF2B5EF4-FFF2-40B4-BE49-F238E27FC236}">
                  <a16:creationId xmlns="" xmlns:a16="http://schemas.microsoft.com/office/drawing/2014/main" id="{B12B76F6-F961-4F3F-87B5-031D4EADCFFF}"/>
                </a:ext>
              </a:extLst>
            </p:cNvPr>
            <p:cNvSpPr/>
            <p:nvPr/>
          </p:nvSpPr>
          <p:spPr>
            <a:xfrm>
              <a:off x="1141734" y="3063717"/>
              <a:ext cx="539859" cy="53985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799"/>
            </a:p>
          </p:txBody>
        </p:sp>
        <p:pic>
          <p:nvPicPr>
            <p:cNvPr id="24" name="Рисунок 23" descr="Маркеры-галочки">
              <a:extLst>
                <a:ext uri="{FF2B5EF4-FFF2-40B4-BE49-F238E27FC236}">
                  <a16:creationId xmlns="" xmlns:a16="http://schemas.microsoft.com/office/drawing/2014/main" id="{92375BF5-5F1E-444F-8DD4-F2BCC4BD7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1710" y="3153694"/>
              <a:ext cx="359906" cy="359906"/>
            </a:xfrm>
            <a:prstGeom prst="rect">
              <a:avLst/>
            </a:prstGeom>
          </p:spPr>
        </p:pic>
      </p:grpSp>
      <p:sp>
        <p:nvSpPr>
          <p:cNvPr id="25" name="Овал 24">
            <a:extLst>
              <a:ext uri="{FF2B5EF4-FFF2-40B4-BE49-F238E27FC236}">
                <a16:creationId xmlns="" xmlns:a16="http://schemas.microsoft.com/office/drawing/2014/main" id="{B12B76F6-F961-4F3F-87B5-031D4EADCFFF}"/>
              </a:ext>
            </a:extLst>
          </p:cNvPr>
          <p:cNvSpPr/>
          <p:nvPr/>
        </p:nvSpPr>
        <p:spPr>
          <a:xfrm>
            <a:off x="1138727" y="4136988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pic>
        <p:nvPicPr>
          <p:cNvPr id="26" name="Рисунок 25" descr="Маркеры-галочки">
            <a:extLst>
              <a:ext uri="{FF2B5EF4-FFF2-40B4-BE49-F238E27FC236}">
                <a16:creationId xmlns="" xmlns:a16="http://schemas.microsoft.com/office/drawing/2014/main" id="{92375BF5-5F1E-444F-8DD4-F2BCC4BD7A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703" y="4226965"/>
            <a:ext cx="359906" cy="359906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1138727" y="5494187"/>
            <a:ext cx="539859" cy="539859"/>
            <a:chOff x="1133354" y="5405666"/>
            <a:chExt cx="539859" cy="539859"/>
          </a:xfrm>
        </p:grpSpPr>
        <p:sp>
          <p:nvSpPr>
            <p:cNvPr id="27" name="Овал 26">
              <a:extLst>
                <a:ext uri="{FF2B5EF4-FFF2-40B4-BE49-F238E27FC236}">
                  <a16:creationId xmlns="" xmlns:a16="http://schemas.microsoft.com/office/drawing/2014/main" id="{B12B76F6-F961-4F3F-87B5-031D4EADCFFF}"/>
                </a:ext>
              </a:extLst>
            </p:cNvPr>
            <p:cNvSpPr/>
            <p:nvPr/>
          </p:nvSpPr>
          <p:spPr>
            <a:xfrm>
              <a:off x="1133354" y="5405666"/>
              <a:ext cx="539859" cy="53985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799"/>
            </a:p>
          </p:txBody>
        </p:sp>
        <p:pic>
          <p:nvPicPr>
            <p:cNvPr id="28" name="Рисунок 27" descr="Маркеры-галочки">
              <a:extLst>
                <a:ext uri="{FF2B5EF4-FFF2-40B4-BE49-F238E27FC236}">
                  <a16:creationId xmlns="" xmlns:a16="http://schemas.microsoft.com/office/drawing/2014/main" id="{92375BF5-5F1E-444F-8DD4-F2BCC4BD7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3330" y="5495643"/>
              <a:ext cx="359906" cy="359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8245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756894" y="2986280"/>
            <a:ext cx="1745930" cy="1181459"/>
          </a:xfrm>
        </p:spPr>
        <p:txBody>
          <a:bodyPr vert="horz" lIns="0" tIns="0" rIns="0" bIns="0" rtlCol="0"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  <a:cs typeface="Arial" pitchFamily="34" charset="0"/>
              </a:rPr>
              <a:t>Региональный 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  <a:cs typeface="Arial" pitchFamily="34" charset="0"/>
              </a:rPr>
              <a:t>уровень – </a:t>
            </a:r>
          </a:p>
          <a:p>
            <a:pPr marL="0" indent="0">
              <a:buNone/>
            </a:pPr>
            <a:r>
              <a:rPr lang="ru-RU" b="1" dirty="0">
                <a:solidFill>
                  <a:srgbClr val="FFFF00"/>
                </a:solidFill>
                <a:cs typeface="Arial" pitchFamily="34" charset="0"/>
              </a:rPr>
              <a:t>5</a:t>
            </a:r>
            <a:r>
              <a:rPr lang="ru-RU" sz="2000" b="1" dirty="0">
                <a:solidFill>
                  <a:schemeClr val="bg1"/>
                </a:solidFill>
                <a:cs typeface="Arial" pitchFamily="34" charset="0"/>
              </a:rPr>
              <a:t> отраслей</a:t>
            </a:r>
          </a:p>
        </p:txBody>
      </p:sp>
      <p:sp>
        <p:nvSpPr>
          <p:cNvPr id="5" name="Левая фигурная скобка 4"/>
          <p:cNvSpPr/>
          <p:nvPr/>
        </p:nvSpPr>
        <p:spPr>
          <a:xfrm>
            <a:off x="2546226" y="1701258"/>
            <a:ext cx="575914" cy="4103387"/>
          </a:xfrm>
          <a:prstGeom prst="leftBrac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6" name="Прямоугольник 5"/>
          <p:cNvSpPr/>
          <p:nvPr/>
        </p:nvSpPr>
        <p:spPr>
          <a:xfrm>
            <a:off x="5851" y="261473"/>
            <a:ext cx="12192000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99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ОТРАСЛИ ЦИФРОВОЙ ТРАНСФОРМАЦИИ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C70ECC6B-97A1-4401-9135-C77F3B7E4B46}"/>
              </a:ext>
            </a:extLst>
          </p:cNvPr>
          <p:cNvSpPr txBox="1"/>
          <p:nvPr/>
        </p:nvSpPr>
        <p:spPr>
          <a:xfrm>
            <a:off x="4104871" y="1495869"/>
            <a:ext cx="3723960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Государственное управление 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 показателей)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E219BDB8-B7CD-40CF-9206-D2BF1F8693D4}"/>
              </a:ext>
            </a:extLst>
          </p:cNvPr>
          <p:cNvSpPr txBox="1"/>
          <p:nvPr/>
        </p:nvSpPr>
        <p:spPr>
          <a:xfrm>
            <a:off x="4104870" y="2432426"/>
            <a:ext cx="3372418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Развитие городской среды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 показателей)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DDC84B81-DE95-485A-928C-96BDF73C7CD4}"/>
              </a:ext>
            </a:extLst>
          </p:cNvPr>
          <p:cNvSpPr txBox="1"/>
          <p:nvPr/>
        </p:nvSpPr>
        <p:spPr>
          <a:xfrm>
            <a:off x="4104871" y="3368407"/>
            <a:ext cx="2306954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Здравоохранение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(9 показателей)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363A6EBA-3AF9-4C9C-BF19-AC7AD8E16A23}"/>
              </a:ext>
            </a:extLst>
          </p:cNvPr>
          <p:cNvSpPr txBox="1"/>
          <p:nvPr/>
        </p:nvSpPr>
        <p:spPr>
          <a:xfrm>
            <a:off x="4104871" y="4303502"/>
            <a:ext cx="2879462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Транспорт и логистика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 показателей)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966FCA45-5044-4E53-99B0-F28A8E0ACE35}"/>
              </a:ext>
            </a:extLst>
          </p:cNvPr>
          <p:cNvSpPr txBox="1"/>
          <p:nvPr/>
        </p:nvSpPr>
        <p:spPr>
          <a:xfrm>
            <a:off x="4144327" y="5238599"/>
            <a:ext cx="2689588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Образование и наука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 показателей)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54828FC1-9F1E-489E-80DE-473ACBA4C298}"/>
              </a:ext>
            </a:extLst>
          </p:cNvPr>
          <p:cNvSpPr txBox="1"/>
          <p:nvPr/>
        </p:nvSpPr>
        <p:spPr>
          <a:xfrm>
            <a:off x="8991108" y="1498216"/>
            <a:ext cx="2079131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Промышленность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показателей)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D5C21446-9789-43B8-ACA5-01F694303CEF}"/>
              </a:ext>
            </a:extLst>
          </p:cNvPr>
          <p:cNvSpPr txBox="1"/>
          <p:nvPr/>
        </p:nvSpPr>
        <p:spPr>
          <a:xfrm>
            <a:off x="8991108" y="2433311"/>
            <a:ext cx="2332980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Сельское хозяйство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(15 показателей)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1D8696B7-E0A6-4F7D-A8BF-2E2FCCE71E80}"/>
              </a:ext>
            </a:extLst>
          </p:cNvPr>
          <p:cNvSpPr txBox="1"/>
          <p:nvPr/>
        </p:nvSpPr>
        <p:spPr>
          <a:xfrm>
            <a:off x="8991109" y="3368407"/>
            <a:ext cx="1769254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Строительство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 показателей)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34CD4DB-0221-4E81-BB5D-BE5914B32611}"/>
              </a:ext>
            </a:extLst>
          </p:cNvPr>
          <p:cNvSpPr txBox="1"/>
          <p:nvPr/>
        </p:nvSpPr>
        <p:spPr>
          <a:xfrm>
            <a:off x="9150199" y="4335253"/>
            <a:ext cx="1897461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Энергетика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(18 показателей)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218D2F92-F880-4D47-B36E-32672C52D3C9}"/>
              </a:ext>
            </a:extLst>
          </p:cNvPr>
          <p:cNvSpPr txBox="1"/>
          <p:nvPr/>
        </p:nvSpPr>
        <p:spPr>
          <a:xfrm>
            <a:off x="8991108" y="5238599"/>
            <a:ext cx="2308557" cy="5538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Финансовые услуги</a:t>
            </a:r>
            <a:b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7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 показателя)</a:t>
            </a:r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xmlns="" id="{96778D6C-4DCD-41B2-8459-F82EF91B8D2E}"/>
              </a:ext>
            </a:extLst>
          </p:cNvPr>
          <p:cNvSpPr/>
          <p:nvPr/>
        </p:nvSpPr>
        <p:spPr>
          <a:xfrm>
            <a:off x="3362098" y="1502867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xmlns="" id="{F2EB71E8-15D6-429D-8792-BC9D7C286D67}"/>
              </a:ext>
            </a:extLst>
          </p:cNvPr>
          <p:cNvSpPr/>
          <p:nvPr/>
        </p:nvSpPr>
        <p:spPr>
          <a:xfrm>
            <a:off x="3362098" y="2439424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xmlns="" id="{90C78004-ACD3-4C95-B8E6-B1F367A0325C}"/>
              </a:ext>
            </a:extLst>
          </p:cNvPr>
          <p:cNvSpPr/>
          <p:nvPr/>
        </p:nvSpPr>
        <p:spPr>
          <a:xfrm>
            <a:off x="3362098" y="3375404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xmlns="" id="{897999FB-DB73-44F1-BD6F-EB49FC6B82D2}"/>
              </a:ext>
            </a:extLst>
          </p:cNvPr>
          <p:cNvSpPr/>
          <p:nvPr/>
        </p:nvSpPr>
        <p:spPr>
          <a:xfrm>
            <a:off x="3362098" y="4310500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 dirty="0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xmlns="" id="{AF5A1CE6-613C-4C6F-A24F-01306E6D7E16}"/>
              </a:ext>
            </a:extLst>
          </p:cNvPr>
          <p:cNvSpPr/>
          <p:nvPr/>
        </p:nvSpPr>
        <p:spPr>
          <a:xfrm>
            <a:off x="3362098" y="5245596"/>
            <a:ext cx="539859" cy="5398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xmlns="" id="{28535538-F51F-4E75-BA49-13EC8B3BCC40}"/>
              </a:ext>
            </a:extLst>
          </p:cNvPr>
          <p:cNvSpPr/>
          <p:nvPr/>
        </p:nvSpPr>
        <p:spPr>
          <a:xfrm>
            <a:off x="8271702" y="1502867"/>
            <a:ext cx="539859" cy="53985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xmlns="" id="{9B6232B9-9226-40CA-818E-3E893A0E108D}"/>
              </a:ext>
            </a:extLst>
          </p:cNvPr>
          <p:cNvSpPr/>
          <p:nvPr/>
        </p:nvSpPr>
        <p:spPr>
          <a:xfrm>
            <a:off x="8271702" y="2439424"/>
            <a:ext cx="539859" cy="53985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xmlns="" id="{AE9632A6-FE23-4325-AF46-CFE9678BFC0C}"/>
              </a:ext>
            </a:extLst>
          </p:cNvPr>
          <p:cNvSpPr/>
          <p:nvPr/>
        </p:nvSpPr>
        <p:spPr>
          <a:xfrm>
            <a:off x="8271702" y="3375404"/>
            <a:ext cx="539859" cy="53985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xmlns="" id="{C61D6680-096A-46A8-BE32-E7AD0DAC9E23}"/>
              </a:ext>
            </a:extLst>
          </p:cNvPr>
          <p:cNvSpPr/>
          <p:nvPr/>
        </p:nvSpPr>
        <p:spPr>
          <a:xfrm>
            <a:off x="8271702" y="4310500"/>
            <a:ext cx="539859" cy="53985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sp>
        <p:nvSpPr>
          <p:cNvPr id="76" name="Овал 75">
            <a:extLst>
              <a:ext uri="{FF2B5EF4-FFF2-40B4-BE49-F238E27FC236}">
                <a16:creationId xmlns:a16="http://schemas.microsoft.com/office/drawing/2014/main" xmlns="" id="{FFA94BEC-1AFA-4551-8E50-6BC4EAA257C3}"/>
              </a:ext>
            </a:extLst>
          </p:cNvPr>
          <p:cNvSpPr/>
          <p:nvPr/>
        </p:nvSpPr>
        <p:spPr>
          <a:xfrm>
            <a:off x="8271702" y="5245596"/>
            <a:ext cx="539859" cy="539859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99"/>
          </a:p>
        </p:txBody>
      </p:sp>
      <p:pic>
        <p:nvPicPr>
          <p:cNvPr id="12" name="Рисунок 11" descr="Подъемный кран">
            <a:extLst>
              <a:ext uri="{FF2B5EF4-FFF2-40B4-BE49-F238E27FC236}">
                <a16:creationId xmlns:a16="http://schemas.microsoft.com/office/drawing/2014/main" xmlns="" id="{9A201DB4-AF0D-4AF3-8A7A-1831F6C712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61678" y="3465381"/>
            <a:ext cx="359906" cy="359906"/>
          </a:xfrm>
          <a:prstGeom prst="rect">
            <a:avLst/>
          </a:prstGeom>
        </p:spPr>
      </p:pic>
      <p:pic>
        <p:nvPicPr>
          <p:cNvPr id="24" name="Рисунок 23" descr="Академическая шапочка">
            <a:extLst>
              <a:ext uri="{FF2B5EF4-FFF2-40B4-BE49-F238E27FC236}">
                <a16:creationId xmlns:a16="http://schemas.microsoft.com/office/drawing/2014/main" xmlns="" id="{34022361-0C66-4023-A5A2-86D8428A2B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452075" y="5335573"/>
            <a:ext cx="359906" cy="359906"/>
          </a:xfrm>
          <a:prstGeom prst="rect">
            <a:avLst/>
          </a:prstGeom>
        </p:spPr>
      </p:pic>
      <p:pic>
        <p:nvPicPr>
          <p:cNvPr id="77" name="Рисунок 76" descr="Автобус">
            <a:extLst>
              <a:ext uri="{FF2B5EF4-FFF2-40B4-BE49-F238E27FC236}">
                <a16:creationId xmlns:a16="http://schemas.microsoft.com/office/drawing/2014/main" xmlns="" id="{ADD1745A-243F-4855-9810-B9C5221D79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452075" y="4400476"/>
            <a:ext cx="359906" cy="359906"/>
          </a:xfrm>
          <a:prstGeom prst="rect">
            <a:avLst/>
          </a:prstGeom>
        </p:spPr>
      </p:pic>
      <p:pic>
        <p:nvPicPr>
          <p:cNvPr id="79" name="Рисунок 78" descr="Разряд молнии">
            <a:extLst>
              <a:ext uri="{FF2B5EF4-FFF2-40B4-BE49-F238E27FC236}">
                <a16:creationId xmlns:a16="http://schemas.microsoft.com/office/drawing/2014/main" xmlns="" id="{4DCF7C40-ECBC-40CC-9EB1-110DB77C3A1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361475" y="4418383"/>
            <a:ext cx="359906" cy="359906"/>
          </a:xfrm>
          <a:prstGeom prst="rect">
            <a:avLst/>
          </a:prstGeom>
        </p:spPr>
      </p:pic>
      <p:pic>
        <p:nvPicPr>
          <p:cNvPr id="83" name="Рисунок 82" descr="Зерно">
            <a:extLst>
              <a:ext uri="{FF2B5EF4-FFF2-40B4-BE49-F238E27FC236}">
                <a16:creationId xmlns:a16="http://schemas.microsoft.com/office/drawing/2014/main" xmlns="" id="{8AFDF2C9-07AA-4D06-87DC-A53D6269CA6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361678" y="2529400"/>
            <a:ext cx="359906" cy="359906"/>
          </a:xfrm>
          <a:prstGeom prst="rect">
            <a:avLst/>
          </a:prstGeom>
        </p:spPr>
      </p:pic>
      <p:pic>
        <p:nvPicPr>
          <p:cNvPr id="87" name="Рисунок 86" descr="Уличный фонарь">
            <a:extLst>
              <a:ext uri="{FF2B5EF4-FFF2-40B4-BE49-F238E27FC236}">
                <a16:creationId xmlns:a16="http://schemas.microsoft.com/office/drawing/2014/main" xmlns="" id="{0DB41B25-07FA-4D01-91F1-A3A8FB69960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3452075" y="2529400"/>
            <a:ext cx="359906" cy="359906"/>
          </a:xfrm>
          <a:prstGeom prst="rect">
            <a:avLst/>
          </a:prstGeom>
        </p:spPr>
      </p:pic>
      <p:pic>
        <p:nvPicPr>
          <p:cNvPr id="89" name="Рисунок 88" descr="Лектор">
            <a:extLst>
              <a:ext uri="{FF2B5EF4-FFF2-40B4-BE49-F238E27FC236}">
                <a16:creationId xmlns:a16="http://schemas.microsoft.com/office/drawing/2014/main" xmlns="" id="{42F81620-62BA-412B-9F8A-460AE6C740F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3452075" y="1592843"/>
            <a:ext cx="359906" cy="359906"/>
          </a:xfrm>
          <a:prstGeom prst="rect">
            <a:avLst/>
          </a:prstGeom>
        </p:spPr>
      </p:pic>
      <p:pic>
        <p:nvPicPr>
          <p:cNvPr id="91" name="Рисунок 90" descr="Медицина">
            <a:extLst>
              <a:ext uri="{FF2B5EF4-FFF2-40B4-BE49-F238E27FC236}">
                <a16:creationId xmlns:a16="http://schemas.microsoft.com/office/drawing/2014/main" xmlns="" id="{F4B8EFA4-E24A-497D-B325-B9BB5DA964F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3452075" y="3465381"/>
            <a:ext cx="359906" cy="359906"/>
          </a:xfrm>
          <a:prstGeom prst="rect">
            <a:avLst/>
          </a:prstGeom>
        </p:spPr>
      </p:pic>
      <p:pic>
        <p:nvPicPr>
          <p:cNvPr id="93" name="Рисунок 92" descr="Фабрика">
            <a:extLst>
              <a:ext uri="{FF2B5EF4-FFF2-40B4-BE49-F238E27FC236}">
                <a16:creationId xmlns:a16="http://schemas.microsoft.com/office/drawing/2014/main" xmlns="" id="{CBD1F260-4233-45F2-A03E-DAC30F9FD31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8361678" y="1592843"/>
            <a:ext cx="359906" cy="359906"/>
          </a:xfrm>
          <a:prstGeom prst="rect">
            <a:avLst/>
          </a:prstGeom>
        </p:spPr>
      </p:pic>
      <p:pic>
        <p:nvPicPr>
          <p:cNvPr id="95" name="Рисунок 94" descr="Деньги">
            <a:extLst>
              <a:ext uri="{FF2B5EF4-FFF2-40B4-BE49-F238E27FC236}">
                <a16:creationId xmlns:a16="http://schemas.microsoft.com/office/drawing/2014/main" xmlns="" id="{3B80FE6D-CA06-412D-9774-BB62189B5199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>
            <a:off x="8361678" y="5335573"/>
            <a:ext cx="359906" cy="35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6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148ECE58-DD8F-41A7-82C0-941C977FA5B8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  <p:grpSp>
        <p:nvGrpSpPr>
          <p:cNvPr id="25" name="Группа 24"/>
          <p:cNvGrpSpPr/>
          <p:nvPr/>
        </p:nvGrpSpPr>
        <p:grpSpPr>
          <a:xfrm>
            <a:off x="1809548" y="2197906"/>
            <a:ext cx="9134375" cy="1469320"/>
            <a:chOff x="40129" y="1386485"/>
            <a:chExt cx="9063741" cy="1594449"/>
          </a:xfrm>
        </p:grpSpPr>
        <p:sp>
          <p:nvSpPr>
            <p:cNvPr id="18" name="Прямоугольник 17"/>
            <p:cNvSpPr/>
            <p:nvPr/>
          </p:nvSpPr>
          <p:spPr>
            <a:xfrm>
              <a:off x="3445702" y="1407195"/>
              <a:ext cx="2787182" cy="1573739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6565045" y="1407197"/>
              <a:ext cx="2444981" cy="1573737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257170" y="1386485"/>
              <a:ext cx="2750932" cy="1507521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40129" y="1466235"/>
              <a:ext cx="9063741" cy="10150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3568" y="1589040"/>
              <a:ext cx="20249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169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749872" y="1626770"/>
              <a:ext cx="20201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68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50906" y="1653418"/>
              <a:ext cx="25273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4000" b="1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62095" y="2520301"/>
              <a:ext cx="1905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ru-RU"/>
              </a:defPPr>
              <a:lvl1pPr algn="ctr">
                <a:defRPr b="1">
                  <a:solidFill>
                    <a:srgbClr val="302AA8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ru-RU" dirty="0" smtClean="0"/>
                <a:t>Региональные</a:t>
              </a:r>
              <a:endParaRPr lang="ru-RU" dirty="0"/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3549260" y="2496979"/>
              <a:ext cx="268362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b="1" dirty="0" smtClean="0">
                  <a:solidFill>
                    <a:srgbClr val="302AA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Федеральные</a:t>
              </a:r>
              <a:endParaRPr lang="ru-RU" b="1" dirty="0">
                <a:solidFill>
                  <a:srgbClr val="302AA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272610" y="2486922"/>
              <a:ext cx="26319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ru-RU" sz="2400" b="1" spc="-40" dirty="0" smtClean="0">
                  <a:solidFill>
                    <a:srgbClr val="302AA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Всего</a:t>
              </a:r>
              <a:endParaRPr lang="ru-RU" sz="2400" b="1" spc="-40" dirty="0">
                <a:solidFill>
                  <a:srgbClr val="302AA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Равно 15"/>
            <p:cNvSpPr/>
            <p:nvPr/>
          </p:nvSpPr>
          <p:spPr>
            <a:xfrm>
              <a:off x="3023541" y="1799590"/>
              <a:ext cx="457200" cy="457200"/>
            </a:xfrm>
            <a:prstGeom prst="mathEqual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14" name="Плюс 13"/>
            <p:cNvSpPr/>
            <p:nvPr/>
          </p:nvSpPr>
          <p:spPr>
            <a:xfrm>
              <a:off x="6213847" y="1821834"/>
              <a:ext cx="457200" cy="412712"/>
            </a:xfrm>
            <a:prstGeom prst="mathPlus">
              <a:avLst/>
            </a:prstGeom>
            <a:solidFill>
              <a:srgbClr val="C0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n>
                  <a:solidFill>
                    <a:srgbClr val="C00000"/>
                  </a:solidFill>
                </a:ln>
              </a:endParaRPr>
            </a:p>
          </p:txBody>
        </p:sp>
      </p:grpSp>
      <p:sp>
        <p:nvSpPr>
          <p:cNvPr id="22" name="Прямоугольник 21"/>
          <p:cNvSpPr/>
          <p:nvPr/>
        </p:nvSpPr>
        <p:spPr>
          <a:xfrm>
            <a:off x="5851" y="261473"/>
            <a:ext cx="12192000" cy="369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799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ПОКАЗАТЕЛИ ДОСТИЖЕНИЯ ЦЕЛИ «ЦИФРОВАЯ ТРАНСФОРМАЦИЯ»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2036994" y="770134"/>
            <a:ext cx="9063741" cy="10150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</a:t>
            </a:r>
            <a:r>
              <a:rPr lang="ru-RU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2030</a:t>
            </a:r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году оказание услуг </a:t>
            </a:r>
            <a:r>
              <a:rPr lang="ru-RU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электронном формате</a:t>
            </a:r>
          </a:p>
        </p:txBody>
      </p:sp>
      <p:pic>
        <p:nvPicPr>
          <p:cNvPr id="27" name="Picture 10" descr="&amp;scy;&amp;icy;&amp;mcy;&amp;vcy;&amp;ocy;&amp;lcy; &amp;dcy;&amp;ocy;&amp;kcy;&amp;ucy;&amp;mcy;&amp;iecy;&amp;ncy;&amp;tcy;&amp;ycy; &amp;Bcy;&amp;iecy;&amp;scy;&amp;pcy;&amp;lcy;&amp;acy;&amp;tcy;&amp;ncy;&amp;ycy;&amp;iecy; &amp;Icy;&amp;kcy;&amp;ocy;&amp;ncy;&amp;kcy;&amp;icy;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98" y="4465292"/>
            <a:ext cx="1776564" cy="163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 27"/>
          <p:cNvSpPr/>
          <p:nvPr/>
        </p:nvSpPr>
        <p:spPr>
          <a:xfrm>
            <a:off x="2347808" y="5090149"/>
            <a:ext cx="9577892" cy="101504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сентября 2021 года </a:t>
            </a:r>
            <a:r>
              <a:rPr lang="ru-R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Стратегия цифровой трансформации РБ </a:t>
            </a:r>
          </a:p>
        </p:txBody>
      </p:sp>
    </p:spTree>
    <p:extLst>
      <p:ext uri="{BB962C8B-B14F-4D97-AF65-F5344CB8AC3E}">
        <p14:creationId xmlns:p14="http://schemas.microsoft.com/office/powerpoint/2010/main" val="174562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165</Words>
  <Application>Microsoft Office PowerPoint</Application>
  <PresentationFormat>Произвольный</PresentationFormat>
  <Paragraphs>41</Paragraphs>
  <Slides>4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Хасаншина Жумакуль Маликовна</dc:creator>
  <cp:lastModifiedBy>Фахретдинов Айрат Салаватович</cp:lastModifiedBy>
  <cp:revision>14</cp:revision>
  <dcterms:created xsi:type="dcterms:W3CDTF">2021-02-10T08:41:11Z</dcterms:created>
  <dcterms:modified xsi:type="dcterms:W3CDTF">2021-02-10T11:03:03Z</dcterms:modified>
</cp:coreProperties>
</file>